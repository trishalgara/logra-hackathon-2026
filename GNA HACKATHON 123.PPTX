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59" r:id="rId7"/>
    <p:sldId id="260" r:id="rId8"/>
    <p:sldId id="261" r:id="rId9"/>
    <p:sldId id="262" r:id="rId10"/>
  </p:sldIdLst>
  <p:sldSz cx="10058400" cy="7772400"/>
  <p:notesSz cx="10058400" cy="7772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12" autoAdjust="0"/>
    <p:restoredTop sz="94660"/>
  </p:normalViewPr>
  <p:slideViewPr>
    <p:cSldViewPr>
      <p:cViewPr>
        <p:scale>
          <a:sx n="75" d="100"/>
          <a:sy n="75" d="100"/>
        </p:scale>
        <p:origin x="1354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5E544DF2-E9B8-B110-6E08-8469BD8F567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C7CC4D04-5D81-B283-8762-6AB28842864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8E5D27-5256-4DA2-92A9-8D39F136451E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1F7158A2-0F65-2552-5CF5-BDC6953058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C4AC2-7D45-43EA-81A9-E6FEB22382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584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E76EB222-88CB-EA70-366D-706A99BA822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913F43C0-8796-B652-DD6B-15446DFD584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B88EED-F339-4E5E-B475-E7C75961415B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C28FFBFD-B85B-545C-3F49-CDBD4A3AE5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2D302-FA08-420C-AFB2-9BD309E13E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2971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B1E97707-7442-456D-326E-E7A83100C62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46F14D30-D7D2-8B62-F402-6881491094FB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850381-7E29-4122-A5D0-2DEEA863B2CE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AFF1FEE0-2382-C3AB-2FAB-9DB49910AD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365919-E327-40A4-AD97-DB10D34BDD8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0542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249887F2-B286-561D-A711-AE02461776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0CD63B03-D7A9-8ABA-2A10-58AA9520B68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487EE-1E8B-4073-9453-010959EC5E62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E470BCD8-9288-13C0-A701-ABD48C8B07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CEF45-73DB-4A6C-86D0-73BC4CB3EB1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77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7CD379E5-3BC4-2704-6681-AE83FDD936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61600CB9-AD33-7996-FE4C-C511FA892F7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C4FBB-1EC4-4E9C-8DFE-24B0EA3EDE8D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ED6559BB-A2F0-F7CB-E5BB-32D9674746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F9385-51B5-4FB1-8BC1-684E25E63A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400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bg object 16">
            <a:extLst>
              <a:ext uri="{FF2B5EF4-FFF2-40B4-BE49-F238E27FC236}">
                <a16:creationId xmlns:a16="http://schemas.microsoft.com/office/drawing/2014/main" id="{6BF18E96-3FB6-76B1-2C97-5249EC66E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762000"/>
            <a:ext cx="1752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older 2">
            <a:extLst>
              <a:ext uri="{FF2B5EF4-FFF2-40B4-BE49-F238E27FC236}">
                <a16:creationId xmlns:a16="http://schemas.microsoft.com/office/drawing/2014/main" id="{4073C6F7-C8EF-CD81-EFF5-164F8BA4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575" y="2232025"/>
            <a:ext cx="5683250" cy="47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1028" name="Holder 3">
            <a:extLst>
              <a:ext uri="{FF2B5EF4-FFF2-40B4-BE49-F238E27FC236}">
                <a16:creationId xmlns:a16="http://schemas.microsoft.com/office/drawing/2014/main" id="{60EF059E-79E3-0A4B-CA2E-752A3C28C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787525"/>
            <a:ext cx="9051925" cy="512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8FA67818-B580-EA78-91A9-2B5391B88D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8288338" y="7389813"/>
            <a:ext cx="1554162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eaLnBrk="1" fontAlgn="auto" hangingPunct="1">
              <a:lnSpc>
                <a:spcPts val="1240"/>
              </a:lnSpc>
              <a:spcBef>
                <a:spcPts val="0"/>
              </a:spcBef>
              <a:spcAft>
                <a:spcPts val="0"/>
              </a:spcAft>
              <a:defRPr sz="1200" b="1" i="0" kern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1030" name="Holder 5">
            <a:extLst>
              <a:ext uri="{FF2B5EF4-FFF2-40B4-BE49-F238E27FC236}">
                <a16:creationId xmlns:a16="http://schemas.microsoft.com/office/drawing/2014/main" id="{226AAB55-10E6-7256-C784-95DAD9133C26}"/>
              </a:ext>
            </a:extLst>
          </p:cNvPr>
          <p:cNvSpPr>
            <a:spLocks noGrp="1" noChangeArrowheads="1"/>
          </p:cNvSpPr>
          <p:nvPr>
            <p:ph type="dt" sz="half" idx="6"/>
          </p:nvPr>
        </p:nvSpPr>
        <p:spPr bwMode="auto">
          <a:xfrm>
            <a:off x="503238" y="7227888"/>
            <a:ext cx="2312987" cy="388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940C7F6-E8F2-4B78-AF18-EB61410D9A4D}" type="datetimeFigureOut">
              <a:rPr lang="en-US" altLang="en-US"/>
              <a:pPr>
                <a:defRPr/>
              </a:pPr>
              <a:t>4/5/2026</a:t>
            </a:fld>
            <a:endParaRPr lang="en-US" altLang="en-US"/>
          </a:p>
        </p:txBody>
      </p:sp>
      <p:sp>
        <p:nvSpPr>
          <p:cNvPr id="1031" name="Holder 6">
            <a:extLst>
              <a:ext uri="{FF2B5EF4-FFF2-40B4-BE49-F238E27FC236}">
                <a16:creationId xmlns:a16="http://schemas.microsoft.com/office/drawing/2014/main" id="{EA0B598D-F9BC-0002-6BD6-B07C4C591FBA}"/>
              </a:ext>
            </a:extLst>
          </p:cNvPr>
          <p:cNvSpPr>
            <a:spLocks noGrp="1" noChangeArrowheads="1"/>
          </p:cNvSpPr>
          <p:nvPr>
            <p:ph type="sldNum" sz="quarter" idx="7"/>
          </p:nvPr>
        </p:nvSpPr>
        <p:spPr bwMode="auto">
          <a:xfrm>
            <a:off x="7242175" y="7227888"/>
            <a:ext cx="2312988" cy="3889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 eaLnBrk="1" hangingPunct="1"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CF4A020-6117-4BF2-A92B-424E50121F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200742-4C26-2D9C-A3DE-93EFA69562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063" y="860425"/>
            <a:ext cx="7564437" cy="627063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000" dirty="0">
                <a:solidFill>
                  <a:srgbClr val="1F487B"/>
                </a:solidFill>
              </a:rPr>
              <a:t>GNA</a:t>
            </a:r>
            <a:r>
              <a:rPr sz="4000" b="0" spc="-114" dirty="0">
                <a:solidFill>
                  <a:srgbClr val="1F487B"/>
                </a:solidFill>
              </a:rPr>
              <a:t> </a:t>
            </a:r>
            <a:r>
              <a:rPr sz="4000" dirty="0">
                <a:solidFill>
                  <a:srgbClr val="1F487B"/>
                </a:solidFill>
              </a:rPr>
              <a:t>HACKATHON</a:t>
            </a:r>
            <a:r>
              <a:rPr sz="4000" b="0" spc="-70" dirty="0">
                <a:solidFill>
                  <a:srgbClr val="1F487B"/>
                </a:solidFill>
              </a:rPr>
              <a:t> </a:t>
            </a:r>
            <a:r>
              <a:rPr sz="4000" spc="-20" dirty="0">
                <a:solidFill>
                  <a:srgbClr val="1F487B"/>
                </a:solidFill>
              </a:rPr>
              <a:t>4.0</a:t>
            </a:r>
            <a:r>
              <a:rPr sz="4000" b="0" spc="-135" dirty="0">
                <a:solidFill>
                  <a:srgbClr val="1F487B"/>
                </a:solidFill>
              </a:rPr>
              <a:t> </a:t>
            </a:r>
            <a:r>
              <a:rPr sz="4000" dirty="0">
                <a:solidFill>
                  <a:srgbClr val="1F487B"/>
                </a:solidFill>
              </a:rPr>
              <a:t>-</a:t>
            </a:r>
            <a:r>
              <a:rPr sz="4000" b="0" spc="-135" dirty="0">
                <a:solidFill>
                  <a:srgbClr val="1F487B"/>
                </a:solidFill>
              </a:rPr>
              <a:t> </a:t>
            </a:r>
            <a:r>
              <a:rPr sz="4000" spc="-20" dirty="0">
                <a:solidFill>
                  <a:srgbClr val="1F487B"/>
                </a:solidFill>
              </a:rPr>
              <a:t>2026</a:t>
            </a:r>
            <a:endParaRPr sz="4000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1E2B592-1FDA-234C-5AC2-4D9EF871AF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DBDDE6A-0B5B-40AF-A840-CE38850619B5}"/>
              </a:ext>
            </a:extLst>
          </p:cNvPr>
          <p:cNvSpPr txBox="1"/>
          <p:nvPr/>
        </p:nvSpPr>
        <p:spPr>
          <a:xfrm>
            <a:off x="3200400" y="1730375"/>
            <a:ext cx="4114800" cy="688975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400" b="1" kern="0" dirty="0">
                <a:solidFill>
                  <a:sysClr val="windowText" lastClr="000000"/>
                </a:solidFill>
                <a:latin typeface="Algerian" panose="04020705040A02060702" pitchFamily="82" charset="0"/>
                <a:cs typeface="Times New Roman"/>
              </a:rPr>
              <a:t>TITLE</a:t>
            </a:r>
            <a:r>
              <a:rPr sz="4400" kern="0" spc="-110" dirty="0">
                <a:solidFill>
                  <a:sysClr val="windowText" lastClr="000000"/>
                </a:solidFill>
                <a:latin typeface="Algerian" panose="04020705040A02060702" pitchFamily="82" charset="0"/>
                <a:cs typeface="Times New Roman"/>
              </a:rPr>
              <a:t> </a:t>
            </a:r>
            <a:r>
              <a:rPr sz="4400" b="1" kern="0" spc="-20" dirty="0">
                <a:solidFill>
                  <a:sysClr val="windowText" lastClr="000000"/>
                </a:solidFill>
                <a:latin typeface="Algerian" panose="04020705040A02060702" pitchFamily="82" charset="0"/>
                <a:cs typeface="Times New Roman"/>
              </a:rPr>
              <a:t>PAGE</a:t>
            </a:r>
            <a:endParaRPr sz="4400" kern="0" dirty="0">
              <a:solidFill>
                <a:sysClr val="windowText" lastClr="000000"/>
              </a:solidFill>
              <a:latin typeface="Algerian" panose="04020705040A02060702" pitchFamily="82" charset="0"/>
              <a:cs typeface="Times New Roman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EC9B851-1A17-3487-F71C-017F91B579D5}"/>
              </a:ext>
            </a:extLst>
          </p:cNvPr>
          <p:cNvSpPr txBox="1"/>
          <p:nvPr/>
        </p:nvSpPr>
        <p:spPr>
          <a:xfrm>
            <a:off x="211138" y="3124200"/>
            <a:ext cx="9634537" cy="3090863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248920" indent="-236220" eaLnBrk="1" fontAlgn="auto" hangingPunct="1">
              <a:spcBef>
                <a:spcPts val="105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Team</a:t>
            </a:r>
            <a:r>
              <a:rPr sz="2000" kern="0" spc="-7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2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ID-</a:t>
            </a:r>
            <a:r>
              <a:rPr lang="en-US" sz="2000" b="1" kern="0" spc="-2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 SE004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20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spc="-7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Team</a:t>
            </a:r>
            <a:r>
              <a:rPr sz="2000" kern="0" spc="-10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8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Leader</a:t>
            </a:r>
            <a:r>
              <a:rPr sz="2000" kern="0" spc="-8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7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Name</a:t>
            </a:r>
            <a:r>
              <a:rPr sz="2000" kern="0" spc="-9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lang="en-IN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–</a:t>
            </a:r>
            <a:r>
              <a:rPr lang="en-US" sz="2000" b="1" kern="0" spc="-50" dirty="0" err="1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Trishal</a:t>
            </a:r>
            <a:r>
              <a:rPr lang="en-US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Gara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25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Team</a:t>
            </a:r>
            <a:r>
              <a:rPr sz="2000" kern="0" spc="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Name</a:t>
            </a:r>
            <a:r>
              <a:rPr sz="2000" kern="0" spc="1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lang="en-IN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–</a:t>
            </a:r>
            <a:r>
              <a:rPr lang="en-US" sz="2000" b="1" kern="0" spc="-5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</a:t>
            </a:r>
            <a:r>
              <a:rPr lang="en-US" sz="2000" b="1" kern="0" spc="-50" dirty="0" err="1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CrackX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25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Problem</a:t>
            </a:r>
            <a:r>
              <a:rPr sz="2000" kern="0" spc="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Statement</a:t>
            </a:r>
            <a:r>
              <a:rPr sz="2000" kern="0" spc="-5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Times New Roman"/>
              </a:rPr>
              <a:t> </a:t>
            </a:r>
            <a:r>
              <a:rPr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Title</a:t>
            </a:r>
            <a:r>
              <a:rPr lang="en-US"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</a:t>
            </a:r>
            <a:r>
              <a:rPr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-</a:t>
            </a:r>
            <a:r>
              <a:rPr lang="en-US"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 Develop Effective Career Counselling and Guidance Programs in Schools to Enhance Student Career Choices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eaLnBrk="1" fontAlgn="auto" hangingPunct="1">
              <a:spcBef>
                <a:spcPts val="10"/>
              </a:spcBef>
              <a:spcAft>
                <a:spcPts val="0"/>
              </a:spcAft>
              <a:buFont typeface="Arial"/>
              <a:buChar char="•"/>
              <a:defRPr/>
            </a:pP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  <a:p>
            <a:pPr marL="248920" indent="-236220" eaLnBrk="1" fontAlgn="auto" hangingPunct="1">
              <a:spcBef>
                <a:spcPts val="0"/>
              </a:spcBef>
              <a:spcAft>
                <a:spcPts val="0"/>
              </a:spcAft>
              <a:buFont typeface="Arial"/>
              <a:buChar char="•"/>
              <a:tabLst>
                <a:tab pos="248285" algn="l"/>
                <a:tab pos="248920" algn="l"/>
              </a:tabLst>
              <a:defRPr/>
            </a:pPr>
            <a:r>
              <a:rPr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Theme-</a:t>
            </a:r>
            <a:r>
              <a:rPr lang="en-US" sz="2000" b="1" kern="0" spc="-10" dirty="0">
                <a:solidFill>
                  <a:sysClr val="windowText" lastClr="000000"/>
                </a:solidFill>
                <a:latin typeface="Bahnschrift SemiBold SemiConden" panose="020B0502040204020203" pitchFamily="34" charset="0"/>
                <a:cs typeface="Arial"/>
              </a:rPr>
              <a:t> Smart Education</a:t>
            </a:r>
            <a:endParaRPr sz="2000" kern="0" dirty="0">
              <a:solidFill>
                <a:sysClr val="windowText" lastClr="000000"/>
              </a:solidFill>
              <a:latin typeface="Bahnschrift SemiBold SemiConden" panose="020B0502040204020203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F4C540-ECF3-4599-BFBA-AB23E89C81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74875" y="866775"/>
            <a:ext cx="4648200" cy="688975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400" spc="-10" dirty="0">
                <a:latin typeface="Algerian" panose="04020705040A02060702" pitchFamily="82" charset="0"/>
              </a:rPr>
              <a:t>IDEA</a:t>
            </a:r>
            <a:r>
              <a:rPr sz="4400" b="0" spc="-210" dirty="0">
                <a:latin typeface="Algerian" panose="04020705040A02060702" pitchFamily="82" charset="0"/>
              </a:rPr>
              <a:t> </a:t>
            </a:r>
            <a:r>
              <a:rPr sz="4400" spc="-20" dirty="0">
                <a:latin typeface="Algerian" panose="04020705040A02060702" pitchFamily="82" charset="0"/>
              </a:rPr>
              <a:t>TITLE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B10B1D7-5225-A788-0F62-92F7DE5579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CBB4966-FFD1-8D20-CDEF-79C0A3C1C378}"/>
              </a:ext>
            </a:extLst>
          </p:cNvPr>
          <p:cNvSpPr txBox="1"/>
          <p:nvPr/>
        </p:nvSpPr>
        <p:spPr>
          <a:xfrm>
            <a:off x="63500" y="3081338"/>
            <a:ext cx="2111375" cy="314325"/>
          </a:xfrm>
          <a:prstGeom prst="rect">
            <a:avLst/>
          </a:prstGeom>
        </p:spPr>
        <p:txBody>
          <a:bodyPr lIns="0" tIns="13335" rIns="0" bIns="0">
            <a:spAutoFit/>
          </a:bodyPr>
          <a:lstStyle/>
          <a:p>
            <a:pPr marL="294640" indent="-281940" eaLnBrk="1" fontAlgn="auto" hangingPunct="1">
              <a:spcBef>
                <a:spcPts val="105"/>
              </a:spcBef>
              <a:spcAft>
                <a:spcPts val="0"/>
              </a:spcAft>
              <a:buFont typeface="Wingdings"/>
              <a:buChar char=""/>
              <a:tabLst>
                <a:tab pos="294640" algn="l"/>
              </a:tabLst>
              <a:defRPr/>
            </a:pPr>
            <a:r>
              <a:rPr sz="1950" b="1" kern="0" spc="-10" dirty="0">
                <a:solidFill>
                  <a:srgbClr val="1F487B"/>
                </a:solidFill>
                <a:latin typeface="Arial"/>
                <a:cs typeface="Arial"/>
              </a:rPr>
              <a:t>……………….</a:t>
            </a:r>
            <a:endParaRPr sz="1950" kern="0" dirty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3077" name="TextBox 5">
            <a:extLst>
              <a:ext uri="{FF2B5EF4-FFF2-40B4-BE49-F238E27FC236}">
                <a16:creationId xmlns:a16="http://schemas.microsoft.com/office/drawing/2014/main" id="{E095421E-D69C-A9F5-8B5A-8CF1E934F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2798208"/>
            <a:ext cx="7848600" cy="141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3200" b="1" dirty="0">
                <a:latin typeface="Bahnschrift SemiBold SemiConden" panose="020B0502040204020203" pitchFamily="34" charset="0"/>
              </a:rPr>
              <a:t>   </a:t>
            </a:r>
            <a:r>
              <a:rPr lang="en-US" altLang="en-US" sz="3600" b="1" dirty="0">
                <a:latin typeface="Bahnschrift SemiBold Condensed" panose="020B0502040204020203" pitchFamily="34" charset="0"/>
              </a:rPr>
              <a:t>LOGRA</a:t>
            </a:r>
            <a:r>
              <a:rPr lang="en-US" altLang="en-US" sz="3600" b="1" dirty="0">
                <a:latin typeface="Bahnschrift Light SemiCondensed" panose="020B0502040204020203" pitchFamily="34" charset="0"/>
              </a:rPr>
              <a:t> </a:t>
            </a:r>
            <a:r>
              <a:rPr lang="en-US" altLang="en-US" sz="3200" b="1" dirty="0">
                <a:latin typeface="Bahnschrift Light SemiCondensed" panose="020B0502040204020203" pitchFamily="34" charset="0"/>
              </a:rPr>
              <a:t>:</a:t>
            </a:r>
            <a:r>
              <a:rPr lang="en-US" altLang="en-US" sz="2800" b="1" dirty="0">
                <a:latin typeface="Bahnschrift Light SemiCondensed" panose="020B0502040204020203" pitchFamily="34" charset="0"/>
              </a:rPr>
              <a:t>  </a:t>
            </a:r>
            <a:r>
              <a:rPr lang="en-US" altLang="en-US" sz="3200" b="1" dirty="0">
                <a:latin typeface="Bahnschrift SemiBold Condensed" panose="020B0502040204020203" pitchFamily="34" charset="0"/>
              </a:rPr>
              <a:t>UNLOCK YOUR POTENTIAL. </a:t>
            </a:r>
          </a:p>
          <a:p>
            <a:r>
              <a:rPr lang="en-US" altLang="en-US" sz="3200" b="1" dirty="0">
                <a:latin typeface="Bahnschrift SemiBold Condensed" panose="020B0502040204020203" pitchFamily="34" charset="0"/>
              </a:rPr>
              <a:t>                       DEFINE YOUR CAREER.</a:t>
            </a:r>
          </a:p>
          <a:p>
            <a:r>
              <a:rPr lang="en-US" altLang="en-US" b="1" dirty="0">
                <a:latin typeface="Bahnschrift SemiBold Condensed" panose="020B0502040204020203" pitchFamily="34" charset="0"/>
              </a:rPr>
              <a:t> </a:t>
            </a:r>
            <a:endParaRPr lang="en-IN" altLang="en-US" b="1" dirty="0">
              <a:latin typeface="Bahnschrift SemiBold Condensed" panose="020B0502040204020203" pitchFamily="34" charset="0"/>
            </a:endParaRPr>
          </a:p>
        </p:txBody>
      </p:sp>
      <p:sp>
        <p:nvSpPr>
          <p:cNvPr id="3078" name="TextBox 6">
            <a:extLst>
              <a:ext uri="{FF2B5EF4-FFF2-40B4-BE49-F238E27FC236}">
                <a16:creationId xmlns:a16="http://schemas.microsoft.com/office/drawing/2014/main" id="{EAD4FCA4-E6F6-275A-5BD9-856EB1DDC4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038600"/>
            <a:ext cx="906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altLang="en-US" sz="2800">
              <a:latin typeface="Bahnschrift SemiBold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CFB7C9-A0A0-C562-9B40-81B79B73F94F}"/>
              </a:ext>
            </a:extLst>
          </p:cNvPr>
          <p:cNvSpPr txBox="1"/>
          <p:nvPr/>
        </p:nvSpPr>
        <p:spPr>
          <a:xfrm>
            <a:off x="592138" y="3786188"/>
            <a:ext cx="7391400" cy="33239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AI-Powered Career Counselling for Better Decisions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Using Technology to Shape Student Futures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Smart Career Guidance with Data-Driven Insights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US" sz="2400" dirty="0">
              <a:latin typeface="Bahnschrift SemiBold SemiConden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Bahnschrift SemiBold SemiConden" panose="020B0502040204020203" pitchFamily="34" charset="0"/>
              </a:rPr>
              <a:t>Personalized Career Paths through Intelligent Systems</a:t>
            </a:r>
          </a:p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EA1C8FA-94BA-B44E-73ED-E925AE581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90800" y="1066800"/>
            <a:ext cx="3962400" cy="628650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4000" spc="-10" dirty="0">
                <a:latin typeface="Algerian" panose="04020705040A02060702" pitchFamily="82" charset="0"/>
                <a:cs typeface="Calibri"/>
              </a:rPr>
              <a:t>INTRODUCTION</a:t>
            </a:r>
            <a:endParaRPr sz="4000" dirty="0">
              <a:latin typeface="Algerian" panose="04020705040A02060702" pitchFamily="82" charset="0"/>
              <a:cs typeface="Calibri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3748801-8458-8239-D372-682EE9595E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4100" name="TextBox 4">
            <a:extLst>
              <a:ext uri="{FF2B5EF4-FFF2-40B4-BE49-F238E27FC236}">
                <a16:creationId xmlns:a16="http://schemas.microsoft.com/office/drawing/2014/main" id="{BF12AA63-AC66-1896-9D6B-B592B42F4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286000"/>
            <a:ext cx="89916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Career counselling plays a crucial role in helping students choose the right career path.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Many students face confusion due to lack of awareness, guidance, and exposure.</a:t>
            </a:r>
            <a:br>
              <a:rPr lang="en-US" altLang="en-US" sz="2100" dirty="0">
                <a:latin typeface="Bahnschrift SemiBold SemiConden" panose="020B0502040204020203" pitchFamily="34" charset="0"/>
              </a:rPr>
            </a:b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Traditional counselling methods in schools are often limited and not personalized.</a:t>
            </a:r>
            <a:br>
              <a:rPr lang="en-US" altLang="en-US" sz="2100" dirty="0">
                <a:latin typeface="Bahnschrift SemiBold SemiConden" panose="020B0502040204020203" pitchFamily="34" charset="0"/>
              </a:rPr>
            </a:b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With rapid changes in career options, students need smarter and updated guidance.</a:t>
            </a:r>
            <a:br>
              <a:rPr lang="en-US" altLang="en-US" sz="2100" dirty="0">
                <a:latin typeface="Bahnschrift SemiBold SemiConden" panose="020B0502040204020203" pitchFamily="34" charset="0"/>
              </a:rPr>
            </a:br>
            <a:endParaRPr lang="en-US" altLang="en-US" sz="21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100" dirty="0">
                <a:latin typeface="Bahnschrift SemiBold SemiConden" panose="020B0502040204020203" pitchFamily="34" charset="0"/>
              </a:rPr>
              <a:t> Our solution aims to provide </a:t>
            </a:r>
            <a:r>
              <a:rPr lang="en-US" altLang="en-US" sz="2100" b="1" dirty="0">
                <a:latin typeface="Bahnschrift SemiBold SemiConden" panose="020B0502040204020203" pitchFamily="34" charset="0"/>
              </a:rPr>
              <a:t>technology-driven, personalized career counselling</a:t>
            </a:r>
            <a:r>
              <a:rPr lang="en-US" altLang="en-US" sz="2100" dirty="0">
                <a:latin typeface="Bahnschrift SemiBold SemiConden" panose="020B0502040204020203" pitchFamily="34" charset="0"/>
              </a:rPr>
              <a:t> to help students make informed decisions</a:t>
            </a:r>
            <a:r>
              <a:rPr lang="en-US" altLang="en-US" sz="2200" dirty="0">
                <a:latin typeface="Bahnschrift SemiBold SemiConden" panose="020B0502040204020203" pitchFamily="34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2200" dirty="0">
              <a:latin typeface="Bahnschrift SemiBold SemiConden" panose="020B0502040204020203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2200" dirty="0">
              <a:latin typeface="Bahnschrift SemiBold SemiConden" panose="020B0502040204020203" pitchFamily="34" charset="0"/>
            </a:endParaRPr>
          </a:p>
          <a:p>
            <a:pPr marL="0" indent="0"/>
            <a:endParaRPr lang="en-US" altLang="en-US" sz="2200" dirty="0">
              <a:latin typeface="Bahnschrift SemiBold SemiConden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6FECBE-9CCF-FF9C-0982-15F8E951C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57400"/>
            <a:ext cx="8686800" cy="4876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426D92-1455-32B1-0C55-D45123789BDD}"/>
              </a:ext>
            </a:extLst>
          </p:cNvPr>
          <p:cNvSpPr txBox="1"/>
          <p:nvPr/>
        </p:nvSpPr>
        <p:spPr>
          <a:xfrm>
            <a:off x="2743200" y="432955"/>
            <a:ext cx="533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>
              <a:latin typeface="Algerian" panose="04020705040A02060702" pitchFamily="82" charset="0"/>
            </a:endParaRPr>
          </a:p>
          <a:p>
            <a:r>
              <a:rPr lang="en-IN" sz="4000" b="1" dirty="0">
                <a:latin typeface="Algerian" panose="04020705040A02060702" pitchFamily="82" charset="0"/>
              </a:rPr>
              <a:t>WEBSITE LAYOUT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D18B81-81C2-DD62-4514-D1D51ED50FDE}"/>
              </a:ext>
            </a:extLst>
          </p:cNvPr>
          <p:cNvSpPr txBox="1"/>
          <p:nvPr/>
        </p:nvSpPr>
        <p:spPr>
          <a:xfrm>
            <a:off x="8001000" y="7329285"/>
            <a:ext cx="1828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j-lt"/>
              </a:rPr>
              <a:t>GNA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HACKATHON-</a:t>
            </a:r>
            <a:r>
              <a:rPr lang="en-IN" sz="1200" b="1" spc="-3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|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spc="-25" dirty="0">
                <a:latin typeface="+mj-lt"/>
              </a:rPr>
              <a:t>4.0</a:t>
            </a:r>
            <a:endParaRPr lang="en-I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87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1F1580-8571-72EE-6104-174DE9050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752600"/>
            <a:ext cx="8305800" cy="518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9A3D43-9CEB-2362-3F3D-01F570F264E1}"/>
              </a:ext>
            </a:extLst>
          </p:cNvPr>
          <p:cNvSpPr txBox="1"/>
          <p:nvPr/>
        </p:nvSpPr>
        <p:spPr>
          <a:xfrm>
            <a:off x="2209800" y="838200"/>
            <a:ext cx="5562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WEBSITE  FLOWCHART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6CC91-AE99-340F-B1FD-52C74ED70FD5}"/>
              </a:ext>
            </a:extLst>
          </p:cNvPr>
          <p:cNvSpPr txBox="1"/>
          <p:nvPr/>
        </p:nvSpPr>
        <p:spPr>
          <a:xfrm>
            <a:off x="6553200" y="7202271"/>
            <a:ext cx="32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IN" sz="1200" dirty="0"/>
              <a:t>                               </a:t>
            </a:r>
            <a:r>
              <a:rPr lang="en-IN" sz="1200" b="1" dirty="0">
                <a:latin typeface="+mj-lt"/>
              </a:rPr>
              <a:t>GNA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HACKATHON-</a:t>
            </a:r>
            <a:r>
              <a:rPr lang="en-IN" sz="1200" b="1" spc="-30" dirty="0">
                <a:latin typeface="+mj-lt"/>
                <a:cs typeface="Times New Roman"/>
              </a:rPr>
              <a:t> </a:t>
            </a:r>
            <a:r>
              <a:rPr lang="en-IN" sz="1200" b="1" dirty="0">
                <a:latin typeface="+mj-lt"/>
              </a:rPr>
              <a:t>|</a:t>
            </a:r>
            <a:r>
              <a:rPr lang="en-IN" sz="1200" b="1" spc="-40" dirty="0">
                <a:latin typeface="+mj-lt"/>
                <a:cs typeface="Times New Roman"/>
              </a:rPr>
              <a:t> </a:t>
            </a:r>
            <a:r>
              <a:rPr lang="en-IN" sz="1200" b="1" spc="-25" dirty="0">
                <a:latin typeface="+mj-lt"/>
              </a:rPr>
              <a:t>4.0</a:t>
            </a:r>
          </a:p>
        </p:txBody>
      </p:sp>
    </p:spTree>
    <p:extLst>
      <p:ext uri="{BB962C8B-B14F-4D97-AF65-F5344CB8AC3E}">
        <p14:creationId xmlns:p14="http://schemas.microsoft.com/office/powerpoint/2010/main" val="321281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A9632D6-E678-0EB6-BBFE-20E9635E6F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" y="893763"/>
            <a:ext cx="8001000" cy="506412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3200" spc="-20" dirty="0">
                <a:latin typeface="Algerian" panose="04020705040A02060702" pitchFamily="82" charset="0"/>
              </a:rPr>
              <a:t>TECHNICAL</a:t>
            </a:r>
            <a:r>
              <a:rPr sz="3200" b="0" spc="-345" dirty="0">
                <a:latin typeface="Algerian" panose="04020705040A02060702" pitchFamily="82" charset="0"/>
              </a:rPr>
              <a:t> </a:t>
            </a:r>
            <a:r>
              <a:rPr sz="3200" dirty="0">
                <a:latin typeface="Algerian" panose="04020705040A02060702" pitchFamily="82" charset="0"/>
              </a:rPr>
              <a:t>APPROACH/</a:t>
            </a:r>
            <a:r>
              <a:rPr sz="3200" b="0" spc="-85" dirty="0">
                <a:latin typeface="Algerian" panose="04020705040A02060702" pitchFamily="82" charset="0"/>
              </a:rPr>
              <a:t> </a:t>
            </a:r>
            <a:r>
              <a:rPr sz="3200" spc="-10" dirty="0">
                <a:latin typeface="Algerian" panose="04020705040A02060702" pitchFamily="82" charset="0"/>
              </a:rPr>
              <a:t>METHODOLOGY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B21574C-9538-16AB-8180-06C82B7314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rPr dirty="0"/>
              <a:t>GNA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dirty="0"/>
              <a:t>HACKATHON-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dirty="0"/>
              <a:t>|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spc="-25" dirty="0"/>
              <a:t>4.0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D20BC-5C7C-9197-9073-033F279973A4}"/>
              </a:ext>
            </a:extLst>
          </p:cNvPr>
          <p:cNvSpPr txBox="1"/>
          <p:nvPr/>
        </p:nvSpPr>
        <p:spPr>
          <a:xfrm>
            <a:off x="698500" y="1805889"/>
            <a:ext cx="4114800" cy="5555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700" b="1" dirty="0"/>
          </a:p>
          <a:p>
            <a:pPr>
              <a:defRPr/>
            </a:pPr>
            <a:r>
              <a:rPr lang="en-IN" sz="1700" b="1" dirty="0"/>
              <a:t>1. Frontend (User Interface)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HTML, CSS, JavaScript (Tailwind CSS)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Interactive dashboard (LOGRA UI)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Career quiz, chatbot, roadmap view</a:t>
            </a:r>
          </a:p>
          <a:p>
            <a:pPr>
              <a:defRPr/>
            </a:pPr>
            <a:br>
              <a:rPr lang="en-IN" sz="1700" dirty="0"/>
            </a:br>
            <a:endParaRPr lang="en-IN" sz="1700" dirty="0"/>
          </a:p>
          <a:p>
            <a:pPr>
              <a:defRPr/>
            </a:pPr>
            <a:r>
              <a:rPr lang="en-IN" sz="1700" b="1" dirty="0"/>
              <a:t> 2. Backend (Server Side)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Python (Flask Framework)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Handles user data, logic &amp; processing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Connects frontend with database</a:t>
            </a:r>
          </a:p>
          <a:p>
            <a:pPr>
              <a:defRPr/>
            </a:pPr>
            <a:br>
              <a:rPr lang="en-IN" sz="1700" dirty="0"/>
            </a:br>
            <a:endParaRPr lang="en-IN" sz="1700" dirty="0"/>
          </a:p>
          <a:p>
            <a:pPr>
              <a:defRPr/>
            </a:pPr>
            <a:r>
              <a:rPr lang="en-IN" sz="1700" b="1" dirty="0"/>
              <a:t> 3. Database</a:t>
            </a:r>
          </a:p>
          <a:p>
            <a:pPr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SQLite / MySQL</a:t>
            </a:r>
            <a:br>
              <a:rPr lang="en-IN" sz="1700" dirty="0">
                <a:latin typeface="Bahnschrift Light SemiCondensed" panose="020B0502040204020203" pitchFamily="34" charset="0"/>
              </a:rPr>
            </a:br>
            <a:r>
              <a:rPr lang="en-IN" sz="1700" dirty="0">
                <a:latin typeface="Bahnschrift Light SemiCondensed" panose="020B0502040204020203" pitchFamily="34" charset="0"/>
              </a:rPr>
              <a:t> Stores: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User profiles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Interests &amp; responses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Career data </a:t>
            </a:r>
          </a:p>
          <a:p>
            <a:pPr>
              <a:defRPr/>
            </a:pPr>
            <a:br>
              <a:rPr lang="en-IN" sz="1600" dirty="0"/>
            </a:b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DD3EC-9F67-CB8B-24A9-C7A7F8BF9E66}"/>
              </a:ext>
            </a:extLst>
          </p:cNvPr>
          <p:cNvSpPr txBox="1"/>
          <p:nvPr/>
        </p:nvSpPr>
        <p:spPr>
          <a:xfrm>
            <a:off x="4813300" y="1981200"/>
            <a:ext cx="5029200" cy="45397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IN" sz="1700" b="1" dirty="0"/>
          </a:p>
          <a:p>
            <a:pPr>
              <a:defRPr/>
            </a:pPr>
            <a:r>
              <a:rPr lang="en-IN" sz="1700" b="1" dirty="0"/>
              <a:t>4. AI &amp; Smart System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Recommendation System (career suggestions)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Data analysis for personalized results</a:t>
            </a:r>
          </a:p>
          <a:p>
            <a:pPr>
              <a:defRPr/>
            </a:pPr>
            <a:br>
              <a:rPr lang="en-IN" sz="1700" dirty="0"/>
            </a:br>
            <a:endParaRPr lang="en-IN" sz="1700" dirty="0"/>
          </a:p>
          <a:p>
            <a:pPr>
              <a:defRPr/>
            </a:pPr>
            <a:endParaRPr lang="en-IN" sz="1700" dirty="0"/>
          </a:p>
          <a:p>
            <a:pPr>
              <a:defRPr/>
            </a:pPr>
            <a:r>
              <a:rPr lang="en-IN" sz="1700" b="1" dirty="0"/>
              <a:t> 5. APIs Integration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Career data APIs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Future: AI chatbot integration</a:t>
            </a:r>
          </a:p>
          <a:p>
            <a:pPr>
              <a:defRPr/>
            </a:pPr>
            <a:endParaRPr lang="en-IN" sz="1700" dirty="0">
              <a:latin typeface="Bahnschrift Light SemiCondensed" panose="020B0502040204020203" pitchFamily="34" charset="0"/>
            </a:endParaRPr>
          </a:p>
          <a:p>
            <a:pPr>
              <a:defRPr/>
            </a:pPr>
            <a:br>
              <a:rPr lang="en-IN" sz="1700" dirty="0">
                <a:latin typeface="Bahnschrift Light SemiCondensed" panose="020B0502040204020203" pitchFamily="34" charset="0"/>
              </a:rPr>
            </a:br>
            <a:endParaRPr lang="en-IN" sz="1700" dirty="0">
              <a:latin typeface="Bahnschrift Light SemiCondensed" panose="020B0502040204020203" pitchFamily="34" charset="0"/>
            </a:endParaRPr>
          </a:p>
          <a:p>
            <a:pPr>
              <a:defRPr/>
            </a:pPr>
            <a:r>
              <a:rPr lang="en-IN" sz="1700" b="1" dirty="0"/>
              <a:t> 6. Working Flow (VERY IMPORTANT)</a:t>
            </a:r>
            <a:endParaRPr lang="en-IN" sz="1700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/>
              <a:t> </a:t>
            </a:r>
            <a:r>
              <a:rPr lang="en-IN" sz="1700" dirty="0">
                <a:latin typeface="Bahnschrift Light SemiCondensed" panose="020B0502040204020203" pitchFamily="34" charset="0"/>
              </a:rPr>
              <a:t>Data Processing (backend + AI)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Career Recommendation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sz="1700" dirty="0">
                <a:latin typeface="Bahnschrift Light SemiCondensed" panose="020B0502040204020203" pitchFamily="34" charset="0"/>
              </a:rPr>
              <a:t> Personalized Roadmap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5DA5508-18C6-7640-C3D6-BA8A541EC0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4000" y="914400"/>
            <a:ext cx="5943600" cy="566738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3600" spc="-10" dirty="0">
                <a:latin typeface="Algerian" panose="04020705040A02060702" pitchFamily="82" charset="0"/>
              </a:rPr>
              <a:t>FEASIBILITY</a:t>
            </a:r>
            <a:r>
              <a:rPr sz="3600" b="0" spc="-305" dirty="0">
                <a:latin typeface="Algerian" panose="04020705040A02060702" pitchFamily="82" charset="0"/>
              </a:rPr>
              <a:t> </a:t>
            </a:r>
            <a:r>
              <a:rPr sz="3600" dirty="0">
                <a:latin typeface="Algerian" panose="04020705040A02060702" pitchFamily="82" charset="0"/>
              </a:rPr>
              <a:t>AND</a:t>
            </a:r>
            <a:r>
              <a:rPr sz="3600" b="0" spc="-80" dirty="0">
                <a:latin typeface="Algerian" panose="04020705040A02060702" pitchFamily="82" charset="0"/>
              </a:rPr>
              <a:t> </a:t>
            </a:r>
            <a:r>
              <a:rPr sz="3600" spc="-10" dirty="0">
                <a:latin typeface="Algerian" panose="04020705040A02060702" pitchFamily="82" charset="0"/>
              </a:rPr>
              <a:t>VIABILITY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4B44E8E-3290-F59F-7887-2DD9F6E9EF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ABC289-26BE-8842-FBC8-81AEF9231FA9}"/>
              </a:ext>
            </a:extLst>
          </p:cNvPr>
          <p:cNvSpPr txBox="1"/>
          <p:nvPr/>
        </p:nvSpPr>
        <p:spPr>
          <a:xfrm>
            <a:off x="1143000" y="2057400"/>
            <a:ext cx="8382000" cy="4800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 FEASIBILITY (Can we build it?)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Uses existing technologies (HTML, CSS, JS, Python)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Easy integration of AI tools (AI recommendation system)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Low cost (open-source tools)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Simple and user-friendly system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Easy to implement in schools</a:t>
            </a:r>
          </a:p>
          <a:p>
            <a:pPr>
              <a:defRPr/>
            </a:pPr>
            <a:br>
              <a:rPr lang="en-US" dirty="0">
                <a:latin typeface="Bahnschrift Light SemiCondensed" panose="020B0502040204020203" pitchFamily="34" charset="0"/>
              </a:rPr>
            </a:br>
            <a:endParaRPr lang="en-US" dirty="0">
              <a:latin typeface="Bahnschrift Light SemiCondensed" panose="020B0502040204020203" pitchFamily="34" charset="0"/>
            </a:endParaRPr>
          </a:p>
          <a:p>
            <a:pPr>
              <a:defRPr/>
            </a:pPr>
            <a:r>
              <a:rPr lang="en-US" b="1" dirty="0"/>
              <a:t> VIABILITY (Will it work in real world?)</a:t>
            </a:r>
          </a:p>
          <a:p>
            <a:pPr>
              <a:defRPr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High demand for career guidance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Large number of students (target users)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Solves real-life problem (career confusion)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Scalable as a product/startup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Bahnschrift Light SemiCondensed" panose="020B0502040204020203" pitchFamily="34" charset="0"/>
              </a:rPr>
              <a:t> Can be adopted by schools and institutions</a:t>
            </a:r>
          </a:p>
          <a:p>
            <a:pPr>
              <a:defRPr/>
            </a:pP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D1CBC4-7836-D9D6-4109-3C092B69F8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7400" y="838200"/>
            <a:ext cx="5181600" cy="1120775"/>
          </a:xfrm>
        </p:spPr>
        <p:txBody>
          <a:bodyPr vert="horz" tIns="12700" rtlCol="0"/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sz="3600" spc="-30" dirty="0">
                <a:latin typeface="Algerian" panose="04020705040A02060702" pitchFamily="82" charset="0"/>
              </a:rPr>
              <a:t>IMPACT</a:t>
            </a:r>
            <a:r>
              <a:rPr sz="3600" b="0" spc="-229" dirty="0">
                <a:latin typeface="Algerian" panose="04020705040A02060702" pitchFamily="82" charset="0"/>
              </a:rPr>
              <a:t> </a:t>
            </a:r>
            <a:r>
              <a:rPr sz="3600" dirty="0">
                <a:latin typeface="Algerian" panose="04020705040A02060702" pitchFamily="82" charset="0"/>
              </a:rPr>
              <a:t>AND</a:t>
            </a:r>
            <a:r>
              <a:rPr sz="3600" b="0" spc="-105" dirty="0">
                <a:latin typeface="Algerian" panose="04020705040A02060702" pitchFamily="82" charset="0"/>
              </a:rPr>
              <a:t> </a:t>
            </a:r>
            <a:r>
              <a:rPr sz="3600" spc="-10" dirty="0">
                <a:latin typeface="Algerian" panose="04020705040A02060702" pitchFamily="82" charset="0"/>
              </a:rPr>
              <a:t>BENEFITS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85EE268-7389-232D-30D7-DC92B49235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7172" name="TextBox 3">
            <a:extLst>
              <a:ext uri="{FF2B5EF4-FFF2-40B4-BE49-F238E27FC236}">
                <a16:creationId xmlns:a16="http://schemas.microsoft.com/office/drawing/2014/main" id="{10327377-39BD-DF3C-BCF9-29DD1194F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590800"/>
            <a:ext cx="8305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altLang="en-US" sz="2000"/>
              <a:t>  </a:t>
            </a:r>
            <a:endParaRPr lang="en-I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C9CC3-56A6-F808-45D2-4531FA176F21}"/>
              </a:ext>
            </a:extLst>
          </p:cNvPr>
          <p:cNvSpPr txBox="1"/>
          <p:nvPr/>
        </p:nvSpPr>
        <p:spPr>
          <a:xfrm>
            <a:off x="876300" y="1828800"/>
            <a:ext cx="8305800" cy="563231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2400" b="1" dirty="0">
                <a:latin typeface="Bahnschrift SemiBold SemiConden" panose="020B0502040204020203" pitchFamily="34" charset="0"/>
              </a:rPr>
              <a:t>For Students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Clear career direction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Reduced confusion and stress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Better decision making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Awareness of different career options</a:t>
            </a:r>
          </a:p>
          <a:p>
            <a:pPr>
              <a:defRPr/>
            </a:pPr>
            <a:br>
              <a:rPr lang="en-IN" dirty="0"/>
            </a:br>
            <a:endParaRPr lang="en-IN" dirty="0"/>
          </a:p>
          <a:p>
            <a:pPr>
              <a:defRPr/>
            </a:pPr>
            <a:r>
              <a:rPr lang="en-IN" b="1" dirty="0"/>
              <a:t> </a:t>
            </a:r>
            <a:r>
              <a:rPr lang="en-IN" sz="2400" b="1" dirty="0">
                <a:latin typeface="Bahnschrift SemiBold SemiConden" panose="020B0502040204020203" pitchFamily="34" charset="0"/>
              </a:rPr>
              <a:t>For Schools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Improved student performance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Better career guidance system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Increased success rate of students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Enhances school reputation</a:t>
            </a:r>
          </a:p>
          <a:p>
            <a:pPr>
              <a:defRPr/>
            </a:pPr>
            <a:br>
              <a:rPr lang="en-IN" dirty="0"/>
            </a:br>
            <a:endParaRPr lang="en-IN" dirty="0"/>
          </a:p>
          <a:p>
            <a:pPr>
              <a:defRPr/>
            </a:pPr>
            <a:r>
              <a:rPr lang="en-IN" sz="2400" b="1" dirty="0">
                <a:latin typeface="Bahnschrift SemiBold SemiConden" panose="020B0502040204020203" pitchFamily="34" charset="0"/>
              </a:rPr>
              <a:t> For Society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/>
              <a:t> </a:t>
            </a:r>
            <a:r>
              <a:rPr lang="en-IN" dirty="0">
                <a:latin typeface="Bahnschrift Light SemiCondensed" panose="020B0502040204020203" pitchFamily="34" charset="0"/>
              </a:rPr>
              <a:t>Skilled and career-ready youth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Reduced unemployment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Better workforce development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IN" dirty="0">
                <a:latin typeface="Bahnschrift Light SemiCondensed" panose="020B0502040204020203" pitchFamily="34" charset="0"/>
              </a:rPr>
              <a:t> Positive impact on economy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042960A-E96D-532F-A952-B8045DFDA1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914400"/>
            <a:ext cx="6764338" cy="566738"/>
          </a:xfrm>
        </p:spPr>
        <p:txBody>
          <a:bodyPr vert="horz" tIns="12700" rtlCol="0"/>
          <a:lstStyle/>
          <a:p>
            <a:pPr marL="18415" eaLnBrk="1" fontAlgn="auto" hangingPunct="1">
              <a:spcBef>
                <a:spcPts val="100"/>
              </a:spcBef>
              <a:spcAft>
                <a:spcPts val="0"/>
              </a:spcAft>
              <a:tabLst>
                <a:tab pos="2261870" algn="l"/>
              </a:tabLst>
              <a:defRPr/>
            </a:pPr>
            <a:r>
              <a:rPr sz="3600" spc="-10" dirty="0">
                <a:latin typeface="Algerian" panose="04020705040A02060702" pitchFamily="82" charset="0"/>
              </a:rPr>
              <a:t>RESEARCH</a:t>
            </a:r>
            <a:r>
              <a:rPr lang="en-US" sz="3600" b="0" spc="-10" dirty="0">
                <a:latin typeface="Algerian" panose="04020705040A02060702" pitchFamily="82" charset="0"/>
              </a:rPr>
              <a:t> </a:t>
            </a:r>
            <a:r>
              <a:rPr sz="3600" dirty="0">
                <a:latin typeface="Algerian" panose="04020705040A02060702" pitchFamily="82" charset="0"/>
              </a:rPr>
              <a:t>AND</a:t>
            </a:r>
            <a:r>
              <a:rPr sz="3600" b="0" spc="-50" dirty="0">
                <a:latin typeface="Algerian" panose="04020705040A02060702" pitchFamily="82" charset="0"/>
              </a:rPr>
              <a:t> </a:t>
            </a:r>
            <a:r>
              <a:rPr sz="3600" spc="-10" dirty="0">
                <a:latin typeface="Algerian" panose="04020705040A02060702" pitchFamily="82" charset="0"/>
              </a:rPr>
              <a:t>REFERENCES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18B2E32-C441-B4BF-9D11-6788BF69DA5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vert="horz" rtlCol="0"/>
          <a:lstStyle/>
          <a:p>
            <a:pPr>
              <a:defRPr/>
            </a:pPr>
            <a:r>
              <a:t>GNA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t>HACKATHON-</a:t>
            </a:r>
            <a:r>
              <a:rPr b="0" spc="-30">
                <a:latin typeface="Times New Roman"/>
                <a:cs typeface="Times New Roman"/>
              </a:rPr>
              <a:t> </a:t>
            </a:r>
            <a:r>
              <a:t>|</a:t>
            </a:r>
            <a:r>
              <a:rPr b="0" spc="-40">
                <a:latin typeface="Times New Roman"/>
                <a:cs typeface="Times New Roman"/>
              </a:rPr>
              <a:t> </a:t>
            </a:r>
            <a:r>
              <a:rPr spc="-25"/>
              <a:t>4.0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E233B09C-7D3A-FAB8-1546-0448518D7126}"/>
              </a:ext>
            </a:extLst>
          </p:cNvPr>
          <p:cNvSpPr/>
          <p:nvPr/>
        </p:nvSpPr>
        <p:spPr>
          <a:xfrm>
            <a:off x="9842500" y="6858000"/>
            <a:ext cx="155575" cy="914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IN" dirty="0"/>
          </a:p>
        </p:txBody>
      </p:sp>
      <p:sp>
        <p:nvSpPr>
          <p:cNvPr id="8197" name="TextBox 6">
            <a:extLst>
              <a:ext uri="{FF2B5EF4-FFF2-40B4-BE49-F238E27FC236}">
                <a16:creationId xmlns:a16="http://schemas.microsoft.com/office/drawing/2014/main" id="{CAA309FD-08A9-3C6A-AB1E-C49F69B2B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3" y="2149475"/>
            <a:ext cx="8534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IN" altLang="en-US"/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8F06F674-7D1D-D8DC-3987-F6779FE40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188" y="1916113"/>
            <a:ext cx="7223125" cy="3754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dirty="0"/>
          </a:p>
          <a:p>
            <a:pPr>
              <a:buFontTx/>
              <a:buChar char="•"/>
            </a:pPr>
            <a:r>
              <a:rPr lang="en-US" altLang="en-US" dirty="0">
                <a:latin typeface="Bahnschrift SemiBold SemiConden" panose="020B0502040204020203" pitchFamily="34" charset="0"/>
              </a:rPr>
              <a:t>  </a:t>
            </a:r>
            <a:r>
              <a:rPr lang="en-US" altLang="en-US" sz="2000" dirty="0">
                <a:latin typeface="Bahnschrift SemiBold SemiConden" panose="020B0502040204020203" pitchFamily="34" charset="0"/>
              </a:rPr>
              <a:t>Google Research Articles on Career Guidance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National Career Service website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NCERT Career Guidance Resources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ChatGPT (for idea generation &amp; content support)</a:t>
            </a:r>
          </a:p>
          <a:p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Tailwind CSS Documentation (for UI design) </a:t>
            </a:r>
          </a:p>
          <a:p>
            <a:pPr>
              <a:buFontTx/>
              <a:buChar char="•"/>
            </a:pPr>
            <a:endParaRPr lang="en-US" altLang="en-US" sz="2000" dirty="0">
              <a:latin typeface="Bahnschrift SemiBold SemiConden" panose="020B0502040204020203" pitchFamily="34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Bahnschrift SemiBold SemiConden" panose="020B0502040204020203" pitchFamily="34" charset="0"/>
              </a:rPr>
              <a:t>  Flask Documentation (for backend development)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563</Words>
  <Application>Microsoft Office PowerPoint</Application>
  <PresentationFormat>Custom</PresentationFormat>
  <Paragraphs>125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Algerian</vt:lpstr>
      <vt:lpstr>Arial</vt:lpstr>
      <vt:lpstr>Bahnschrift Light SemiCondensed</vt:lpstr>
      <vt:lpstr>Bahnschrift SemiBold</vt:lpstr>
      <vt:lpstr>Bahnschrift SemiBold Condensed</vt:lpstr>
      <vt:lpstr>Bahnschrift SemiBold SemiConden</vt:lpstr>
      <vt:lpstr>Calibri</vt:lpstr>
      <vt:lpstr>Times New Roman</vt:lpstr>
      <vt:lpstr>Wingdings</vt:lpstr>
      <vt:lpstr>Office Theme</vt:lpstr>
      <vt:lpstr>GNA HACKATHON 4.0 - 2026</vt:lpstr>
      <vt:lpstr>IDEA TITLE</vt:lpstr>
      <vt:lpstr>INTRODUCTION</vt:lpstr>
      <vt:lpstr>PowerPoint Presentation</vt:lpstr>
      <vt:lpstr>PowerPoint Presentation</vt:lpstr>
      <vt:lpstr>TECHNICAL APPROACH/ METHODOLOGY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HACKATHON 4.0 - 2026</dc:title>
  <dc:creator>Online2PDF.com</dc:creator>
  <cp:lastModifiedBy>TRISHAL GARA</cp:lastModifiedBy>
  <cp:revision>23</cp:revision>
  <dcterms:created xsi:type="dcterms:W3CDTF">2026-04-03T09:41:16Z</dcterms:created>
  <dcterms:modified xsi:type="dcterms:W3CDTF">2026-04-05T02:10:02Z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2026-04-03T00:00:00Z</vt:filetime>
  </property>
  <property fmtid="{D5CDD505-2E9C-101B-9397-08002B2CF9AE}" pid="3" name="LastSaved">
    <vt:filetime>2026-04-03T00:00:00Z</vt:filetime>
  </property>
</Properties>
</file>